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87" r:id="rId12"/>
    <p:sldId id="305" r:id="rId13"/>
    <p:sldId id="307" r:id="rId14"/>
    <p:sldId id="266" r:id="rId15"/>
    <p:sldId id="295" r:id="rId16"/>
    <p:sldId id="297" r:id="rId17"/>
    <p:sldId id="302" r:id="rId18"/>
    <p:sldId id="303" r:id="rId19"/>
    <p:sldId id="304" r:id="rId20"/>
    <p:sldId id="293" r:id="rId21"/>
    <p:sldId id="299" r:id="rId22"/>
    <p:sldId id="301" r:id="rId23"/>
    <p:sldId id="273" r:id="rId24"/>
    <p:sldId id="30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8" userDrawn="1">
          <p15:clr>
            <a:srgbClr val="A4A3A4"/>
          </p15:clr>
        </p15:guide>
        <p15:guide id="2" pos="37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1594" y="62"/>
      </p:cViewPr>
      <p:guideLst>
        <p:guide orient="horz" pos="1978"/>
        <p:guide pos="37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503BA2-34E2-40DC-B420-556DB49FA4F6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1B7A3B-C7E3-4871-9433-68E72F680C19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EF81-FF74-4FB4-BF3C-EA4ECB988E4E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B4AC3-2AA2-44C6-A7B5-DED72401311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EF81-FF74-4FB4-BF3C-EA4ECB988E4E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B4AC3-2AA2-44C6-A7B5-DED72401311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EF81-FF74-4FB4-BF3C-EA4ECB988E4E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B4AC3-2AA2-44C6-A7B5-DED72401311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EF81-FF74-4FB4-BF3C-EA4ECB988E4E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B4AC3-2AA2-44C6-A7B5-DED72401311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EF81-FF74-4FB4-BF3C-EA4ECB988E4E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B4AC3-2AA2-44C6-A7B5-DED72401311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EF81-FF74-4FB4-BF3C-EA4ECB988E4E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B4AC3-2AA2-44C6-A7B5-DED72401311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EF81-FF74-4FB4-BF3C-EA4ECB988E4E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B4AC3-2AA2-44C6-A7B5-DED72401311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EF81-FF74-4FB4-BF3C-EA4ECB988E4E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B4AC3-2AA2-44C6-A7B5-DED72401311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EF81-FF74-4FB4-BF3C-EA4ECB988E4E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B4AC3-2AA2-44C6-A7B5-DED72401311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EF81-FF74-4FB4-BF3C-EA4ECB988E4E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B4AC3-2AA2-44C6-A7B5-DED72401311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EF81-FF74-4FB4-BF3C-EA4ECB988E4E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B4AC3-2AA2-44C6-A7B5-DED72401311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5EF81-FF74-4FB4-BF3C-EA4ECB988E4E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B4AC3-2AA2-44C6-A7B5-DED72401311F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jxx123/simglucose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98129"/>
            <a:ext cx="7162800" cy="1241425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Department of Information Technology</a:t>
            </a:r>
            <a:br>
              <a:rPr lang="en-US" sz="2400" dirty="0">
                <a:solidFill>
                  <a:srgbClr val="002060"/>
                </a:solidFill>
                <a:latin typeface="Arial Rounded MT Bold" panose="020F0704030504030204" pitchFamily="34" charset="0"/>
              </a:rPr>
            </a:br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V R Siddhartha Engineering College</a:t>
            </a:r>
            <a:endParaRPr lang="en-US" sz="24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85414" y="2996952"/>
            <a:ext cx="6705600" cy="339662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 B.Tech in Information Technology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>
                <a:solidFill>
                  <a:srgbClr val="7030A0"/>
                </a:solidFill>
              </a:rPr>
              <a:t> M</a:t>
            </a:r>
            <a:r>
              <a:rPr lang="en-IN" altLang="en-US" sz="2000" dirty="0">
                <a:solidFill>
                  <a:srgbClr val="7030A0"/>
                </a:solidFill>
              </a:rPr>
              <a:t>ajor</a:t>
            </a:r>
            <a:r>
              <a:rPr lang="en-US" sz="2000" dirty="0">
                <a:solidFill>
                  <a:srgbClr val="7030A0"/>
                </a:solidFill>
              </a:rPr>
              <a:t> Project Review Presentation</a:t>
            </a:r>
            <a:endParaRPr lang="en-US" sz="2000" dirty="0">
              <a:solidFill>
                <a:srgbClr val="7030A0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Presented by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 err="1">
                <a:solidFill>
                  <a:srgbClr val="7030A0"/>
                </a:solidFill>
              </a:rPr>
              <a:t>P.Hruthik</a:t>
            </a:r>
            <a:r>
              <a:rPr lang="en-US" sz="2000" dirty="0">
                <a:solidFill>
                  <a:srgbClr val="7030A0"/>
                </a:solidFill>
              </a:rPr>
              <a:t> </a:t>
            </a:r>
            <a:r>
              <a:rPr lang="en-US" sz="2000" dirty="0" err="1">
                <a:solidFill>
                  <a:srgbClr val="7030A0"/>
                </a:solidFill>
              </a:rPr>
              <a:t>krishna</a:t>
            </a:r>
            <a:r>
              <a:rPr lang="en-US" sz="2000" dirty="0">
                <a:solidFill>
                  <a:srgbClr val="7030A0"/>
                </a:solidFill>
              </a:rPr>
              <a:t>(228W1A12B4)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rgbClr val="7030A0"/>
                </a:solidFill>
              </a:rPr>
              <a:t>    </a:t>
            </a:r>
            <a:r>
              <a:rPr lang="en-US" sz="2000" dirty="0" err="1">
                <a:solidFill>
                  <a:srgbClr val="7030A0"/>
                </a:solidFill>
              </a:rPr>
              <a:t>M.Sudhamsh</a:t>
            </a:r>
            <a:r>
              <a:rPr lang="en-US" sz="2000" dirty="0">
                <a:solidFill>
                  <a:srgbClr val="7030A0"/>
                </a:solidFill>
              </a:rPr>
              <a:t>(228W1A12A5)                                     </a:t>
            </a:r>
            <a:endParaRPr lang="en-US" sz="2000" dirty="0">
              <a:solidFill>
                <a:srgbClr val="7030A0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Under the guidance of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IN" sz="2000" dirty="0">
                <a:solidFill>
                  <a:srgbClr val="000000"/>
                </a:solidFill>
                <a:latin typeface="Times New Roman" panose="02020603050405020304"/>
              </a:rPr>
              <a:t> </a:t>
            </a:r>
            <a:r>
              <a:rPr lang="en-IN" sz="2000" b="1" dirty="0" err="1">
                <a:solidFill>
                  <a:srgbClr val="FF0000"/>
                </a:solidFill>
                <a:latin typeface="Times New Roman" panose="02020603050405020304"/>
              </a:rPr>
              <a:t>Dr. G. Kalyani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/>
              </a:rPr>
              <a:t>, Associate Professor</a:t>
            </a: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5" name="Picture 4" descr="vrsec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752602" y="241861"/>
            <a:ext cx="914399" cy="111095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1" y="499542"/>
            <a:ext cx="1888299" cy="569068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550670" y="1590675"/>
            <a:ext cx="94494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Cohort-Aware Ensemble Reinforcement Learning Framework for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Glycemic Control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44870" y="2708920"/>
            <a:ext cx="1378585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0B050"/>
                </a:solidFill>
                <a:latin typeface="Times New Roman" panose="02020603050405020304"/>
              </a:rPr>
              <a:t>Health Care</a:t>
            </a:r>
            <a:endParaRPr lang="en-IN" b="1" dirty="0">
              <a:solidFill>
                <a:srgbClr val="00B050"/>
              </a:solidFill>
              <a:latin typeface="Times New Roman" panose="02020603050405020304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600" dirty="0"/>
              <a:t>Agenda 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Problem Statement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and Outcomes of the Project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Summary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and Requirements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and Algorithms Involved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Compete Results Obtained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Analysis &amp; Future work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5301" y="8721"/>
            <a:ext cx="8229600" cy="1143000"/>
          </a:xfrm>
        </p:spPr>
        <p:txBody>
          <a:bodyPr/>
          <a:lstStyle/>
          <a:p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1544" y="1030480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Diabetes is a global health crisis, affecting millions,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facing challenges in managing blood glucose levels effectively and consistently.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interventions often lead to delays and errors, increasing the risk of hypo- and hyperglycemia.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 offers a dynamic solution, training an autonomous agent to learn an adaptive insulin delivery policy through simulated interaction, to actively reduce human error.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9701" y="4149080"/>
            <a:ext cx="3860800" cy="26136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457200"/>
            <a:ext cx="8229600" cy="1143000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diabetes management requires precise carbohydrate counting and timely insulin administration.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miscalculations in this process often lead to unsafe blood sugar levels like hypo- and hyperglycemia.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generalized RL framework that learns optimal insulin delivery policies at the cohort level (children, adolescents, and adults)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precise glucose control without needing manual carbohydrate inputs.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65" y="1315085"/>
            <a:ext cx="8229600" cy="246253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 a Simglucose environment for reinforcement learning agent training.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autonomous agent that learns an optimal insulin dosing policy through simulation.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the learned control policies across diverse simulated patient scenarios within each cohort.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1905635" y="3235960"/>
            <a:ext cx="8229600" cy="835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utcomes</a:t>
            </a:r>
            <a:endParaRPr lang="en-I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/>
        </p:nvSpPr>
        <p:spPr>
          <a:xfrm>
            <a:off x="1981200" y="4070985"/>
            <a:ext cx="8229600" cy="20554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/>
        </p:nvSpPr>
        <p:spPr>
          <a:xfrm>
            <a:off x="1961515" y="4265295"/>
            <a:ext cx="8229600" cy="2268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generalized RL agent that learns cohort-level glucose–insulin dynamics and delivers adaptive insulin dosing.</a:t>
            </a:r>
            <a:endParaRPr lang="en-US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Improved patient outcomes</a:t>
            </a:r>
            <a:r>
              <a:rPr lang="en-IN" altLang="en-US" sz="19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by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reduced occurrences of hypo- and hyperglycemia</a:t>
            </a:r>
            <a:r>
              <a:rPr lang="en-IN" altLang="en-US" sz="19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.</a:t>
            </a:r>
            <a:endParaRPr lang="en-IN" altLang="en-US" sz="19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30B36-E8DE-4342-8D1B-45B429DD5407}" type="datetime1">
              <a:rPr lang="en-US" smtClean="0"/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6524-8F51-4E40-A526-A3166C91AA5B}" type="slidenum">
              <a:rPr lang="en-IN" smtClean="0"/>
            </a:fld>
            <a:endParaRPr lang="en-IN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686560" y="690245"/>
          <a:ext cx="8871585" cy="4804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935"/>
                <a:gridCol w="1370965"/>
                <a:gridCol w="1370330"/>
                <a:gridCol w="1930400"/>
                <a:gridCol w="2179955"/>
              </a:tblGrid>
              <a:tr h="89027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Simulator/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Algorithms 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</a:tr>
              <a:tr h="2011680">
                <a:tc>
                  <a:txBody>
                    <a:bodyPr/>
                    <a:lstStyle/>
                    <a:p>
                      <a:pPr algn="l"/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Fully-Automated Patient-Agnostic Diabetes Management with Deep Reinforcement Learning (2024)</a:t>
                      </a:r>
                      <a:endParaRPr lang="en-US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Simglucose</a:t>
                      </a:r>
                      <a:endParaRPr lang="en-US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Reinforcement Learning (Soft Actor-Critic</a:t>
                      </a:r>
                      <a:r>
                        <a:rPr lang="en-I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80.3% (TIR), outperforming standard PID baselines (77.3%).</a:t>
                      </a:r>
                      <a:endParaRPr lang="en-US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temporal memory (e.g., LSTM) to track delayed insulin action.</a:t>
                      </a:r>
                      <a:endParaRPr lang="en-US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</a:tr>
              <a:tr h="1902460">
                <a:tc>
                  <a:txBody>
                    <a:bodyPr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Toward a Fully Automated Artificial Pancreas System Using a Bioinspired RL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I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(2024)</a:t>
                      </a: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Simglucose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Proximal Policy Optimization (PPO)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TIR 92.8% (adults)</a:t>
                      </a:r>
                      <a:r>
                        <a:rPr lang="en-I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86.9% </a:t>
                      </a:r>
                      <a:r>
                        <a:rPr lang="en-I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adolescents in single-meal, bio</a:t>
                      </a:r>
                      <a:r>
                        <a:rPr lang="en-I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inspired reward function</a:t>
                      </a:r>
                      <a:r>
                        <a:rPr lang="en-I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pancreatic </a:t>
                      </a:r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β-cells</a:t>
                      </a:r>
                      <a:endParaRPr lang="en-US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focused on single-meal/day scenarios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633950" y="136525"/>
            <a:ext cx="5758193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Literature review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30B36-E8DE-4342-8D1B-45B429DD5407}" type="datetime1">
              <a:rPr lang="en-US" smtClean="0"/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6524-8F51-4E40-A526-A3166C91AA5B}" type="slidenum">
              <a:rPr lang="en-IN" smtClean="0"/>
            </a:fld>
            <a:endParaRPr lang="en-IN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630680" y="572135"/>
          <a:ext cx="8930005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3410"/>
                <a:gridCol w="877570"/>
                <a:gridCol w="1435100"/>
                <a:gridCol w="2089785"/>
                <a:gridCol w="2644140"/>
              </a:tblGrid>
              <a:tr h="91440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Algorithms 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</a:tr>
              <a:tr h="2286000">
                <a:tc>
                  <a:txBody>
                    <a:bodyPr/>
                    <a:p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distributional </a:t>
                      </a:r>
                      <a:r>
                        <a:rPr lang="en-I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RL </a:t>
                      </a:r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for optimal glucose control after</a:t>
                      </a:r>
                      <a:r>
                        <a:rPr lang="en-I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cardiac surgery</a:t>
                      </a:r>
                      <a:endParaRPr lang="en-US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(2025)</a:t>
                      </a: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MIMIC-IV,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eICU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-CRD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Actor–Critic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higher returns (0.00 vs –1.29 internal; –0.63 vs –1.02 external) and lower MAE (1.90 vs 2.24)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Restricted </a:t>
                      </a:r>
                      <a:r>
                        <a:rPr lang="en-I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24h post–cardiac surgery  not generalizable to longer time.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fully automatic designed for clinician use only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</a:tr>
              <a:tr h="2834640">
                <a:tc>
                  <a:txBody>
                    <a:bodyPr/>
                    <a:lstStyle/>
                    <a:p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Using Reinforcement Learning to Simplify Mealtime Insulin Dosing for People with Type 1 Diabetes: In-Silico Experiments (El Fathi &amp; Breton, 2023)</a:t>
                      </a:r>
                      <a:endParaRPr lang="en-US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UVA/Padova Type 1</a:t>
                      </a:r>
                      <a:endParaRPr lang="en-US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Q-Learning</a:t>
                      </a:r>
                      <a:r>
                        <a:rPr lang="en-IN" alt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based </a:t>
                      </a:r>
                      <a:r>
                        <a:rPr lang="en-IN" alt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RL</a:t>
                      </a:r>
                      <a:r>
                        <a:rPr lang="en-US" alt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meal bolus optimization</a:t>
                      </a:r>
                      <a:endParaRPr lang="en-US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I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chieving an average TIR of </a:t>
                      </a:r>
                      <a:endParaRPr lang="en-US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73.1 ± 11.6 %</a:t>
                      </a:r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adults</a:t>
                      </a:r>
                      <a:endParaRPr lang="en-US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IN" alt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ptimized for mealtime insulin only, without addressing basal insulin</a:t>
                      </a:r>
                      <a:r>
                        <a:rPr lang="en-IN" alt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631504" y="18367"/>
            <a:ext cx="5758193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Literature review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and requirements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Environment 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SimGlucose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en-US" alt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Type1 diabetes simulator , which is open source version of FDA approved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UVa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Padova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simulator. Simulator includes Virtual patients 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11 years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adults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19 - 77 years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adolscents</a:t>
            </a:r>
            <a:r>
              <a:rPr lang="en-IN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12 – 18 years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Requirements-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3.9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Deep Learning Frameworks: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PyTorch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TensorFlow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(for NN building)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StableBaselines3 (Train RL agent)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Gym, Gymnasium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Simulation Environment 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SimGlucose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 visualization)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8025" y="4077335"/>
            <a:ext cx="2273935" cy="60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290" y="4004945"/>
            <a:ext cx="2052955" cy="1275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 descr="File:Tensorflow logo.svg - Wikimedia Commo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4625" y="4725670"/>
            <a:ext cx="807720" cy="86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-100012"/>
            <a:ext cx="8229600" cy="1143000"/>
          </a:xfrm>
        </p:spPr>
        <p:txBody>
          <a:bodyPr/>
          <a:lstStyle/>
          <a:p>
            <a:r>
              <a:rPr lang="en-I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68730"/>
            <a:ext cx="8418830" cy="5330190"/>
          </a:xfrm>
        </p:spPr>
        <p:txBody>
          <a:bodyPr>
            <a:normAutofit fontScale="90000" lnSpcReduction="10000"/>
          </a:bodyPr>
          <a:lstStyle/>
          <a:p>
            <a:pPr>
              <a:buAutoNum type="arabicPeriod"/>
            </a:pPr>
            <a:r>
              <a:rPr lang="en-US" altLang="en-US" sz="225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&amp; State Design</a:t>
            </a:r>
            <a:endParaRPr lang="en-US" altLang="en-US" sz="22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en-US" sz="1875">
                <a:latin typeface="Times New Roman" panose="02020603050405020304" pitchFamily="18" charset="0"/>
                <a:cs typeface="Times New Roman" panose="02020603050405020304" pitchFamily="18" charset="0"/>
              </a:rPr>
              <a:t>Simulator: SimGlucose (T1D) wrapped in  Gymnasium API.</a:t>
            </a:r>
            <a:endParaRPr lang="en-US" altLang="en-US" sz="187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en-US" sz="1875">
                <a:latin typeface="Times New Roman" panose="02020603050405020304" pitchFamily="18" charset="0"/>
                <a:cs typeface="Times New Roman" panose="02020603050405020304" pitchFamily="18" charset="0"/>
              </a:rPr>
              <a:t>State Space: </a:t>
            </a:r>
            <a:r>
              <a:rPr lang="en-IN" altLang="en-US" sz="1875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1875">
                <a:latin typeface="Times New Roman" panose="02020603050405020304" pitchFamily="18" charset="0"/>
                <a:cs typeface="Times New Roman" panose="02020603050405020304" pitchFamily="18" charset="0"/>
              </a:rPr>
              <a:t>gent's state as [</a:t>
            </a:r>
            <a:r>
              <a:rPr lang="en-US" altLang="en-US" sz="1875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altLang="en-US" sz="1875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sz="1875" i="1">
                <a:latin typeface="Times New Roman" panose="02020603050405020304" pitchFamily="18" charset="0"/>
                <a:cs typeface="Times New Roman" panose="02020603050405020304" pitchFamily="18" charset="0"/>
              </a:rPr>
              <a:t>, △</a:t>
            </a:r>
            <a:r>
              <a:rPr lang="en-IN" altLang="en-US" sz="1875" i="1">
                <a:latin typeface="Times New Roman" panose="02020603050405020304" pitchFamily="18" charset="0"/>
                <a:cs typeface="Times New Roman" panose="02020603050405020304" pitchFamily="18" charset="0"/>
              </a:rPr>
              <a:t>BG</a:t>
            </a:r>
            <a:r>
              <a:rPr lang="en-US" altLang="en-US" sz="1875" i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altLang="en-US" sz="1875" i="1">
                <a:latin typeface="Times New Roman" panose="02020603050405020304" pitchFamily="18" charset="0"/>
                <a:cs typeface="Times New Roman" panose="02020603050405020304" pitchFamily="18" charset="0"/>
              </a:rPr>
              <a:t>IOB, BW</a:t>
            </a:r>
            <a:r>
              <a:rPr lang="en-US" altLang="en-US" sz="1875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altLang="en-US" sz="187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AutoNum type="arabicPeriod"/>
            </a:pPr>
            <a:r>
              <a:rPr lang="en-US" altLang="en-US" sz="2250">
                <a:latin typeface="Times New Roman" panose="02020603050405020304" pitchFamily="18" charset="0"/>
                <a:cs typeface="Times New Roman" panose="02020603050405020304" pitchFamily="18" charset="0"/>
              </a:rPr>
              <a:t>Agent Architecture</a:t>
            </a:r>
            <a:r>
              <a:rPr lang="en-IN" altLang="en-US" sz="225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en-US" sz="2250">
                <a:latin typeface="Times New Roman" panose="02020603050405020304" pitchFamily="18" charset="0"/>
                <a:cs typeface="Times New Roman" panose="02020603050405020304" pitchFamily="18" charset="0"/>
              </a:rPr>
              <a:t>Dynamic Hybrid Ensemble</a:t>
            </a:r>
            <a:endParaRPr lang="en-US" altLang="en-US" sz="22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875">
                <a:latin typeface="Times New Roman" panose="02020603050405020304" pitchFamily="18" charset="0"/>
                <a:cs typeface="Times New Roman" panose="02020603050405020304" pitchFamily="18" charset="0"/>
              </a:rPr>
              <a:t>SAC-Baseline: Stochastic policy for entropy-based exploration and glucose variability.</a:t>
            </a:r>
            <a:endParaRPr lang="en-US" altLang="en-US" sz="187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875">
                <a:latin typeface="Times New Roman" panose="02020603050405020304" pitchFamily="18" charset="0"/>
                <a:cs typeface="Times New Roman" panose="02020603050405020304" pitchFamily="18" charset="0"/>
              </a:rPr>
              <a:t>TD3-Baseline: Deterministic twin-critic architecture for precise, high-dose delivery.</a:t>
            </a:r>
            <a:endParaRPr lang="en-US" altLang="en-US" sz="187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875">
                <a:latin typeface="Times New Roman" panose="02020603050405020304" pitchFamily="18" charset="0"/>
                <a:cs typeface="Times New Roman" panose="02020603050405020304" pitchFamily="18" charset="0"/>
              </a:rPr>
              <a:t>Meta-Controller: Trainable gating network – dynamically weights agent outputs in real-time.</a:t>
            </a:r>
            <a:endParaRPr lang="en-US" altLang="en-US" sz="187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+mj-lt"/>
              <a:buAutoNum type="arabicPeriod"/>
            </a:pPr>
            <a:r>
              <a:rPr lang="en-US" altLang="en-US" sz="2250">
                <a:latin typeface="Times New Roman" panose="02020603050405020304" pitchFamily="18" charset="0"/>
                <a:cs typeface="Times New Roman" panose="02020603050405020304" pitchFamily="18" charset="0"/>
              </a:rPr>
              <a:t>Training Protocol</a:t>
            </a:r>
            <a:endParaRPr lang="en-US" altLang="en-US" sz="22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875">
                <a:latin typeface="Times New Roman" panose="02020603050405020304" pitchFamily="18" charset="0"/>
                <a:cs typeface="Times New Roman" panose="02020603050405020304" pitchFamily="18" charset="0"/>
              </a:rPr>
              <a:t>Cohort Learning: The agent dynamically samples from a training </a:t>
            </a:r>
            <a:r>
              <a:rPr lang="en-IN" altLang="en-US" sz="1875">
                <a:latin typeface="Times New Roman" panose="02020603050405020304" pitchFamily="18" charset="0"/>
                <a:cs typeface="Times New Roman" panose="02020603050405020304" pitchFamily="18" charset="0"/>
              </a:rPr>
              <a:t>patients </a:t>
            </a:r>
            <a:r>
              <a:rPr lang="en-US" altLang="en-US" sz="1875">
                <a:latin typeface="Times New Roman" panose="02020603050405020304" pitchFamily="18" charset="0"/>
                <a:cs typeface="Times New Roman" panose="02020603050405020304" pitchFamily="18" charset="0"/>
              </a:rPr>
              <a:t>(e.g., adult#001 to adult#</a:t>
            </a:r>
            <a:r>
              <a:rPr lang="en-IN" altLang="en-US" sz="1875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en-US" sz="1875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sz="187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875">
                <a:latin typeface="Times New Roman" panose="02020603050405020304" pitchFamily="18" charset="0"/>
                <a:cs typeface="Times New Roman" panose="02020603050405020304" pitchFamily="18" charset="0"/>
              </a:rPr>
              <a:t>Meta-Optimization: Trainable gating network – dynamically weights agent outputs</a:t>
            </a:r>
            <a:r>
              <a:rPr lang="en-IN" altLang="en-US" sz="187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75">
                <a:latin typeface="Times New Roman" panose="02020603050405020304" pitchFamily="18" charset="0"/>
                <a:cs typeface="Times New Roman" panose="02020603050405020304" pitchFamily="18" charset="0"/>
              </a:rPr>
              <a:t>via backpropagation</a:t>
            </a:r>
            <a:endParaRPr lang="en-US" altLang="en-US" sz="187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875">
                <a:latin typeface="Times New Roman" panose="02020603050405020304" pitchFamily="18" charset="0"/>
                <a:cs typeface="Times New Roman" panose="02020603050405020304" pitchFamily="18" charset="0"/>
              </a:rPr>
              <a:t>Safety Layer: Hard-limit constraint to prevent insulin stacking and enforce safe dosage boundaries.</a:t>
            </a:r>
            <a:endParaRPr lang="en-US" altLang="en-US" sz="187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Arial" panose="020B0604020202020204" pitchFamily="34" charset="0"/>
              <a:buAutoNum type="arabicPeriod"/>
            </a:pPr>
            <a:r>
              <a:rPr lang="en-US" altLang="en-US" sz="2250">
                <a:latin typeface="Times New Roman" panose="02020603050405020304" pitchFamily="18" charset="0"/>
                <a:cs typeface="Times New Roman" panose="02020603050405020304" pitchFamily="18" charset="0"/>
              </a:rPr>
              <a:t> Evaluation Protocol </a:t>
            </a:r>
            <a:endParaRPr lang="en-US" altLang="en-US" sz="22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875">
                <a:latin typeface="Times New Roman" panose="02020603050405020304" pitchFamily="18" charset="0"/>
                <a:cs typeface="Times New Roman" panose="02020603050405020304" pitchFamily="18" charset="0"/>
              </a:rPr>
              <a:t>Evaluating the generalized agent on unseen test patients.</a:t>
            </a:r>
            <a:endParaRPr lang="en-US" altLang="en-US" sz="187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875">
                <a:latin typeface="Times New Roman" panose="02020603050405020304" pitchFamily="18" charset="0"/>
                <a:cs typeface="Times New Roman" panose="02020603050405020304" pitchFamily="18" charset="0"/>
              </a:rPr>
              <a:t>Metrics: Time in Range (TIR), Hypo %, Hyper %</a:t>
            </a:r>
            <a:endParaRPr lang="en-US" altLang="en-US" sz="187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Algorithm</a:t>
            </a:r>
            <a:endParaRPr lang="en-IN" altLang="en-US"/>
          </a:p>
        </p:txBody>
      </p:sp>
      <p:pic>
        <p:nvPicPr>
          <p:cNvPr id="1021470592" name="Picture 4"/>
          <p:cNvPicPr>
            <a:picLocks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47900" y="1341120"/>
            <a:ext cx="7309485" cy="48025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Straight Connector 2"/>
          <p:cNvCxnSpPr/>
          <p:nvPr/>
        </p:nvCxnSpPr>
        <p:spPr>
          <a:xfrm flipV="1">
            <a:off x="2757170" y="1995805"/>
            <a:ext cx="6800215" cy="69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Text Box 3"/>
          <p:cNvSpPr txBox="1"/>
          <p:nvPr/>
        </p:nvSpPr>
        <p:spPr>
          <a:xfrm>
            <a:off x="741680" y="11766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1. SAC - Baseline Agent</a:t>
            </a:r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Algorithm</a:t>
            </a:r>
            <a:endParaRPr lang="en-US"/>
          </a:p>
        </p:txBody>
      </p:sp>
      <p:pic>
        <p:nvPicPr>
          <p:cNvPr id="646080551" name="Picture 646080551"/>
          <p:cNvPicPr>
            <a:picLocks noChangeAspect="1"/>
          </p:cNvPicPr>
          <p:nvPr>
            <p:ph idx="1"/>
          </p:nvPr>
        </p:nvPicPr>
        <p:blipFill>
          <a:blip r:embed="rId1"/>
          <a:srcRect l="-9095" t="-632" r="27684" b="632"/>
          <a:stretch>
            <a:fillRect/>
          </a:stretch>
        </p:blipFill>
        <p:spPr>
          <a:xfrm>
            <a:off x="1847215" y="1845310"/>
            <a:ext cx="8025765" cy="452437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695325" y="119697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TD3 - Baseline Agent</a:t>
            </a:r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8090" y="1166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3070" y="765175"/>
            <a:ext cx="9017000" cy="597090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46990" y="47688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  Meta Ensemble Agent (Proposed):</a:t>
            </a:r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" name="Title 1"/>
          <p:cNvSpPr>
            <a:spLocks noGrp="1"/>
          </p:cNvSpPr>
          <p:nvPr/>
        </p:nvSpPr>
        <p:spPr>
          <a:xfrm>
            <a:off x="2108200" y="401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 Box 66"/>
          <p:cNvSpPr txBox="1"/>
          <p:nvPr/>
        </p:nvSpPr>
        <p:spPr>
          <a:xfrm>
            <a:off x="4511675" y="5661025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 i="1">
                <a:sym typeface="+mn-ea"/>
              </a:rPr>
              <a:t>Fig: 1 System Architecture</a:t>
            </a:r>
            <a:endParaRPr lang="en-IN" altLang="en-US" i="1"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1845" y="1196975"/>
            <a:ext cx="8275955" cy="44119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670" y="83820"/>
            <a:ext cx="9512935" cy="662305"/>
          </a:xfrm>
        </p:spPr>
        <p:txBody>
          <a:bodyPr>
            <a:normAutofit fontScale="90000"/>
          </a:bodyPr>
          <a:p>
            <a:pPr algn="l"/>
            <a:r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Results Obtained: </a:t>
            </a:r>
            <a:endParaRPr lang="en-US" altLang="en-US" sz="366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367530" y="908685"/>
            <a:ext cx="416179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400" b="1" i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Table 1: Short-Term Evaluation (1-Day Simulation)</a:t>
            </a:r>
            <a:endParaRPr lang="en-US" altLang="en-US" sz="1400" b="1" i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8340" y="1196340"/>
            <a:ext cx="6194425" cy="2858770"/>
          </a:xfrm>
          <a:prstGeom prst="rect">
            <a:avLst/>
          </a:prstGeom>
        </p:spPr>
      </p:pic>
      <p:sp>
        <p:nvSpPr>
          <p:cNvPr id="17" name="Text Box 16"/>
          <p:cNvSpPr txBox="1"/>
          <p:nvPr/>
        </p:nvSpPr>
        <p:spPr>
          <a:xfrm>
            <a:off x="767715" y="4364990"/>
            <a:ext cx="11050270" cy="193802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Ensemble achieves the highest Time-in-Range in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Adolescents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reaching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82.91%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compared to 56.17% for SAC and 70.39% for TD3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Adults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Ensemble improves Time-in-Range to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68.72%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compared to 64.88% for SAC and 55.93% for TD3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Children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Ensemble achieves a Time-in-Range of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65.99%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close to 67.82% for SAC and slightly higher than 64.87% for TD3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63525" y="764540"/>
            <a:ext cx="456755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Short-Term Performance</a:t>
            </a:r>
            <a:r>
              <a:rPr lang="en-IN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endParaRPr lang="en-IN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 descr="tir_comparision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4765" y="-6985"/>
            <a:ext cx="5671820" cy="360807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47625" y="3500755"/>
            <a:ext cx="5523865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Figure 4.</a:t>
            </a:r>
            <a:r>
              <a:rPr lang="en-IN" sz="1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1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. Comparison of Time in Range (TIR) Across Methods and Cohorts </a:t>
            </a:r>
            <a:endParaRPr sz="14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20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" t="4380" r="2500" b="3639"/>
          <a:stretch>
            <a:fillRect/>
          </a:stretch>
        </p:blipFill>
        <p:spPr bwMode="auto">
          <a:xfrm>
            <a:off x="6527800" y="-6985"/>
            <a:ext cx="5650865" cy="3659505"/>
          </a:xfrm>
          <a:prstGeom prst="rect">
            <a:avLst/>
          </a:prstGeom>
          <a:ln>
            <a:noFill/>
          </a:ln>
        </p:spPr>
      </p:pic>
      <p:sp>
        <p:nvSpPr>
          <p:cNvPr id="5" name="Text Box 4"/>
          <p:cNvSpPr txBox="1"/>
          <p:nvPr/>
        </p:nvSpPr>
        <p:spPr>
          <a:xfrm>
            <a:off x="7104380" y="3573462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101600" indent="0" algn="ctr" defTabSz="457200">
              <a:spcBef>
                <a:spcPct val="0"/>
              </a:spcBef>
              <a:spcAft>
                <a:spcPct val="0"/>
              </a:spcAft>
            </a:pPr>
            <a:r>
              <a:rPr lang="en-US" sz="1600" b="1" i="1">
                <a:latin typeface="Times New Roman" panose="02020603050405020304"/>
                <a:ea typeface="Times New Roman" panose="02020603050405020304"/>
              </a:rPr>
              <a:t>Figure4.8.Comparison of Hypoglycemia Percentage Across Methods and Cohorts</a:t>
            </a:r>
            <a:endParaRPr lang="en-US" sz="1600" b="1" i="1"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189990" y="4437380"/>
            <a:ext cx="9592310" cy="156845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Adolescents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Ensemble reduces Hypoglycemia to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5.4%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compared to 20.74% for SAC and 7.8% for TD3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Adults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Ensemble maintains low Hypoglycemia at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5.3%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comparable to 5.23% for SAC and significantly lower than 15.29% for TD3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Children,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Ensemble reduces Hypoglycemia to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18.17%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compared to 26.7% for SAC and 25.17% for TD3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" name="Picture 21"/>
          <p:cNvPicPr>
            <a:picLocks noChangeAspect="1"/>
          </p:cNvPicPr>
          <p:nvPr>
            <p:ph idx="1"/>
          </p:nvPr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6" t="4380" r="2709" b="4313"/>
          <a:stretch>
            <a:fillRect/>
          </a:stretch>
        </p:blipFill>
        <p:spPr bwMode="auto">
          <a:xfrm>
            <a:off x="3287395" y="0"/>
            <a:ext cx="5715000" cy="3533775"/>
          </a:xfrm>
          <a:prstGeom prst="rect">
            <a:avLst/>
          </a:prstGeom>
          <a:ln>
            <a:noFill/>
          </a:ln>
        </p:spPr>
      </p:pic>
      <p:sp>
        <p:nvSpPr>
          <p:cNvPr id="8" name="Text Box 7"/>
          <p:cNvSpPr txBox="1"/>
          <p:nvPr/>
        </p:nvSpPr>
        <p:spPr>
          <a:xfrm>
            <a:off x="3431540" y="3429000"/>
            <a:ext cx="5864860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101600" indent="0" algn="ctr" defTabSz="457200">
              <a:spcBef>
                <a:spcPct val="0"/>
              </a:spcBef>
              <a:spcAft>
                <a:spcPct val="0"/>
              </a:spcAft>
            </a:pPr>
            <a:r>
              <a:rPr lang="en-US" sz="1600" b="1" i="1">
                <a:latin typeface="Times New Roman" panose="02020603050405020304"/>
                <a:ea typeface="Times New Roman" panose="02020603050405020304"/>
              </a:rPr>
              <a:t>Figure 4.9</a:t>
            </a:r>
            <a:r>
              <a:rPr lang="en-IN" altLang="en-US" sz="1600" b="1" i="1"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sz="1600" b="1" i="1">
                <a:latin typeface="Times New Roman" panose="02020603050405020304"/>
                <a:ea typeface="Times New Roman" panose="02020603050405020304"/>
              </a:rPr>
              <a:t>Comparison of Hyperglycemia Percentage Across Methods and Cohorts</a:t>
            </a:r>
            <a:endParaRPr lang="en-US" sz="1600" b="1" i="1"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83615" y="4145915"/>
            <a:ext cx="10231120" cy="230695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In Adolescents, Ensemble achieves the lowest Hyperglycemia at 11.7%, compared to 17.03% for SAC and 14.49% for TD3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In Adults, Ensemble reduces Hyperglycemia to 25.99%, compared to 29.17% for SAC and 25.01% for TD3, showing improved glucose regulation 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In Children, Hyperglycemia for Ensemble is 15.85%, compared to 1.05% for SAC and 5.89% for TD3, represents a controlled trade-off , resulting in more balanced and safer glucose control overall</a:t>
            </a: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9150" y="1134745"/>
            <a:ext cx="5650230" cy="1062355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3863340" y="2310765"/>
            <a:ext cx="4477385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500"/>
              <a:t>Table 2: Long-Term Evaluation (10-Day Simulation)</a:t>
            </a:r>
            <a:endParaRPr lang="en-US" sz="1500"/>
          </a:p>
        </p:txBody>
      </p:sp>
      <p:sp>
        <p:nvSpPr>
          <p:cNvPr id="4" name="Text Box 3"/>
          <p:cNvSpPr txBox="1"/>
          <p:nvPr/>
        </p:nvSpPr>
        <p:spPr>
          <a:xfrm>
            <a:off x="263525" y="332740"/>
            <a:ext cx="456755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Long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-Term </a:t>
            </a:r>
            <a:r>
              <a:rPr lang="en-IN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Evaluation:</a:t>
            </a:r>
            <a:endParaRPr lang="en-IN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10590" y="2944495"/>
            <a:ext cx="1024191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long-term performance, the Meta-Ensemble agent</a:t>
            </a: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tested over a 10-day simulation across all cohorts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127125" y="3583305"/>
            <a:ext cx="10241280" cy="156845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The adolescent cohort maintains strong performance with a TIR of 79.97%.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The child cohort achieves a TIR of 67.87%, showing stable but variable behavior.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The adult cohort records a TIR of 54.8%, indicating challenges in long-term regulation.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Unlike baseline models, the ensemble framework remains stable throughout the simulation.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/>
          <p:nvPr/>
        </p:nvPicPr>
        <p:blipFill>
          <a:blip r:embed="rId1"/>
          <a:stretch>
            <a:fillRect/>
          </a:stretch>
        </p:blipFill>
        <p:spPr>
          <a:xfrm>
            <a:off x="10160" y="476885"/>
            <a:ext cx="3958590" cy="3656965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7930515" y="476885"/>
            <a:ext cx="4251325" cy="3345815"/>
          </a:xfrm>
          <a:prstGeom prst="rect">
            <a:avLst/>
          </a:prstGeom>
        </p:spPr>
      </p:pic>
      <p:pic>
        <p:nvPicPr>
          <p:cNvPr id="3" name="Picture 2"/>
          <p:cNvPicPr/>
          <p:nvPr/>
        </p:nvPicPr>
        <p:blipFill>
          <a:blip r:embed="rId3"/>
          <a:stretch>
            <a:fillRect/>
          </a:stretch>
        </p:blipFill>
        <p:spPr>
          <a:xfrm>
            <a:off x="3968750" y="593090"/>
            <a:ext cx="3933825" cy="332676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-86360" y="4025265"/>
            <a:ext cx="4146550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Figure 4.1</a:t>
            </a:r>
            <a:r>
              <a:rPr lang="en-IN" sz="1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sz="1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. Patient-wise Glucose Zone Distribution for Adolescent Cohort </a:t>
            </a:r>
            <a:endParaRPr sz="14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426450" y="3717290"/>
            <a:ext cx="3359150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Figure 4.1</a:t>
            </a:r>
            <a:r>
              <a:rPr lang="en-IN" sz="1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1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. Patient-wise Glucose Zone Distribution for Adult Cohort </a:t>
            </a:r>
            <a:endParaRPr sz="14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223385" y="3861435"/>
            <a:ext cx="4039870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Figure 4.1</a:t>
            </a:r>
            <a:r>
              <a:rPr lang="en-IN" sz="1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1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. Patient-wise Glucose Zone Distribution for Child Cohort</a:t>
            </a:r>
            <a:endParaRPr sz="14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911225" y="4653280"/>
            <a:ext cx="10283825" cy="230695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In the adolescent cohort, around 8–9 patients remain mostly within the healthy glucose range (70–180 mg/dL), indicating stable and effective control. 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 In the adult cohort, only about 4–5 patients consistently stay in the target range, with several patients showing higher hyperglycemic exposure. 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 In the child cohort, around 6–7 patients achieve good control, but some experience increased hypoglycemia due to higher insulin sensitivity.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19380" y="101600"/>
            <a:ext cx="6096000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IN" altLang="en-US" sz="2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Result Analysis</a:t>
            </a:r>
            <a:r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</a:t>
            </a:r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6311900" y="50165"/>
            <a:ext cx="5854065" cy="309245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119380" y="116205"/>
            <a:ext cx="6133465" cy="310197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-24765" y="3142615"/>
            <a:ext cx="6480175" cy="30670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Figure 4.</a:t>
            </a:r>
            <a:r>
              <a:rPr lang="en-IN" sz="1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sz="1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Glucose and insulin response of the Meta-Ensemble Agent for Adult </a:t>
            </a:r>
            <a:endParaRPr sz="14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252845" y="3068955"/>
            <a:ext cx="6282055" cy="30670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Figure 4.</a:t>
            </a:r>
            <a:r>
              <a:rPr lang="en-IN" sz="1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sz="1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Glucose and insulin response of the Meta-Ensemble Agent for Child</a:t>
            </a:r>
            <a:endParaRPr sz="14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2502535" y="3501390"/>
            <a:ext cx="7055485" cy="330517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711450" y="6551295"/>
            <a:ext cx="6493510" cy="30670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Figure 4.</a:t>
            </a:r>
            <a:r>
              <a:rPr lang="en-IN" sz="1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sz="1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Glucose and insulin response of the Meta-Ensemble Agent for Adolescent </a:t>
            </a:r>
            <a:endParaRPr sz="14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46200"/>
            <a:ext cx="10972800" cy="2068195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Proposed cohort-aware ensemble RL framework improves glycemic control across diverse patient groups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 model demonstrates adaptability, indicating potential for real-world deployment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Achieves higher TIR and significantly reduces hypoglycemia compared to SAC and TD3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22935" y="3630930"/>
            <a:ext cx="609600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 sz="440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Future Work</a:t>
            </a:r>
            <a:endParaRPr lang="en-IN" altLang="en-US" sz="4400">
              <a:latin typeface="Times New Roman" panose="02020603050405020304" pitchFamily="18" charset="0"/>
              <a:ea typeface="+mj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95325" y="4293235"/>
            <a:ext cx="10401935" cy="1614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Integrate physiological signals (exercise, stress) to improve personalization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Move towards real-time deployment in closed-loop artificial pancreas systems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Evaluate on real-world datasets for clinical reliability and scalability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/>
              <a:t>References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+mj-lt"/>
              <a:buAutoNum type="arabicPeriod"/>
            </a:pPr>
            <a:r>
              <a:rPr lang="en-IN" sz="2200" dirty="0" err="1"/>
              <a:t>J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inyu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Simglucose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v0.2 (2018) [Online],  available: </a:t>
            </a:r>
            <a:r>
              <a:rPr lang="en-IN" sz="22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https://github.com/jxx123/simglucose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Lee, J. Kim, S. W. Park, S. -M. Jin and S. -M. Park, "Toward a Fully Automated Artificial Pancreas System Using a Bioinspired Reinforcement Learning Design: In Silico Validation," in IEEE Journal of Biomedical and Health Informatics, vol. 25, no. 2, pp. 536-546, Feb. 202</a:t>
            </a:r>
            <a:r>
              <a:rPr lang="en-I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doi: 10.1109/JBHI.2020.3002022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Desman, J.M., Hong, ZW., Sabounchi, M. et al. A distributional reinforcement learning model for optimal glucose control after cardiac surgery. npj Digit. Med. 8, 313 (2025).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V. K. R. R.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Satuluri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and V.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Ponnusamy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"Precision insulin delivery: Predictive modelling for bolus insulin injection in real-time,"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Int. J. Adv. </a:t>
            </a:r>
            <a:r>
              <a:rPr lang="en-IN" sz="2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Comput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Sci. Appl.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vol. 15, no. 2, pp. 291-300, 2024.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514350" indent="-514350">
              <a:buFont typeface="+mj-lt"/>
              <a:buAutoNum type="arabicPeriod" startAt="5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S. M.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Ganie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P. K. D.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Pramanik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M. B. Malik, S. Malik, and H. Qin, "An ensemble learning approach for diabetes prediction using boosting techniques,"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Front. Genet.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vol. 14, 2023, Art. no. 1252159,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doi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10.3389/fgene.2023.1252159.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 startAt="5"/>
            </a:pPr>
            <a:endParaRPr lang="en-US" sz="22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98*453"/>
  <p:tag name="TABLE_ENDDRAG_RECT" val="12*54*698*453"/>
</p:tagLst>
</file>

<file path=ppt/tags/tag2.xml><?xml version="1.0" encoding="utf-8"?>
<p:tagLst xmlns:p="http://schemas.openxmlformats.org/presentationml/2006/main">
  <p:tag name="TABLE_ENDDRAG_ORIGIN_RECT" val="703*474"/>
  <p:tag name="TABLE_ENDDRAG_RECT" val="8*45*703*47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9260</Words>
  <Application>WPS Presentation</Application>
  <PresentationFormat>On-screen Show (4:3)</PresentationFormat>
  <Paragraphs>258</Paragraphs>
  <Slides>22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6" baseType="lpstr">
      <vt:lpstr>Arial</vt:lpstr>
      <vt:lpstr>SimSun</vt:lpstr>
      <vt:lpstr>Wingdings</vt:lpstr>
      <vt:lpstr>Arial Rounded MT Bold</vt:lpstr>
      <vt:lpstr>Times New Roman</vt:lpstr>
      <vt:lpstr>Times New Roman</vt:lpstr>
      <vt:lpstr>Arial</vt:lpstr>
      <vt:lpstr>Calibri</vt:lpstr>
      <vt:lpstr>Microsoft YaHei</vt:lpstr>
      <vt:lpstr>Arial Unicode MS</vt:lpstr>
      <vt:lpstr>Wingdings</vt:lpstr>
      <vt:lpstr>Mona Sans VF</vt:lpstr>
      <vt:lpstr>Segoe Print</vt:lpstr>
      <vt:lpstr>Office Theme</vt:lpstr>
      <vt:lpstr>Department of Information Technology V R Siddhartha Engineering College</vt:lpstr>
      <vt:lpstr>Agenda </vt:lpstr>
      <vt:lpstr>Introduction</vt:lpstr>
      <vt:lpstr>Problem statement </vt:lpstr>
      <vt:lpstr>Objectives </vt:lpstr>
      <vt:lpstr>PowerPoint 演示文稿</vt:lpstr>
      <vt:lpstr>PowerPoint 演示文稿</vt:lpstr>
      <vt:lpstr>Datasets and requirements</vt:lpstr>
      <vt:lpstr>Methodology</vt:lpstr>
      <vt:lpstr>Algorithm</vt:lpstr>
      <vt:lpstr>Algorithm</vt:lpstr>
      <vt:lpstr>Algorithm </vt:lpstr>
      <vt:lpstr>PowerPoint 演示文稿</vt:lpstr>
      <vt:lpstr>Results Obtained: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Conclusion &amp; Future Work</vt:lpstr>
      <vt:lpstr>References</vt:lpstr>
      <vt:lpstr>PowerPoint 演示文稿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Information Technology V R Siddhartha Engineering College</dc:title>
  <dc:creator>hkp</dc:creator>
  <cp:lastModifiedBy>hruthik</cp:lastModifiedBy>
  <cp:revision>138</cp:revision>
  <dcterms:created xsi:type="dcterms:W3CDTF">2025-08-19T13:45:00Z</dcterms:created>
  <dcterms:modified xsi:type="dcterms:W3CDTF">2026-04-19T01:36:25Z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8BC6987ECA564B76AFADD0F8B61E77F7_13</vt:lpwstr>
  </property>
  <property fmtid="{D5CDD505-2E9C-101B-9397-08002B2CF9AE}" pid="3" name="KSOProductBuildVer">
    <vt:lpwstr>1033-12.1.0.25830</vt:lpwstr>
  </property>
</Properties>
</file>